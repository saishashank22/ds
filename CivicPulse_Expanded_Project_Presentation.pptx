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notesMasterIdLst>
    <p:notesMasterId r:id="rId10"/>
  </p:notesMasterIdLst>
  <p:sldSz cx="12191695" cy="6858000"/>
  <p:notesSz cx="6858000" cy="12191695"/>
  <p:embeddedFontLst>
    <p:embeddedFont>
      <p:font typeface="Radio Canada Medium"/>
      <p:regular r:id="rId201314"/>
    </p:embeddedFont>
    <p:embeddedFont>
      <p:font typeface="Radio Canada SemiBold"/>
      <p:regular r:id="rId201315"/>
    </p:embeddedFont>
    <p:embeddedFont>
      <p:font typeface="Radio Canada Bold"/>
      <p:regular r:id="rId201316"/>
    </p:embeddedFont>
    <p:embeddedFont>
      <p:font typeface="Radio Canada"/>
      <p:regular r:id="rId201317"/>
    </p:embeddedFont>
    <p:embeddedFont>
      <p:font typeface="Radio Canada Big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central proposition: CivicPulse is not another complaints inbox. It turns public frustration into an accountable operating loop that leaders can see, govern, and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issue is not a lack of public input. It is that the system behind the input is difficult to see: where issues enter, who owns them, what is urgent, and what patterns are repeating.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model from left to right conceptually, even though it is shown vertically: capture the issue, make sense of it, assign it, act, communicate, close, and learn. The last step feeds the next improvement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operating promise at the case level. Every complaint has a visible path: how it entered, why it was prioritized, who owns it, and what happens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is an important starting signal, but it is not the whole story. Sentiment intelligence helps leaders distinguish a one-off complaint from a pattern that is becoming urgent, repeated, or systemic.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difference between reporting and operating. The view matters because it connects measures to action: leaders can see where work is accumulating, investigate the underlying issue, and direct the next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 works best when it creates clarity rather than fear. CivicPulse makes ownership and commitments visible, gives citizens a reliable line of sight, and uses public measures to improve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path, not a broad promise. Begin with a focused service or geography, establish the baseline and the rules for escalation, then scale the model as departments demonstrate faster and fairer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14400"/>
            <a:ext cx="6857828" cy="4753769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1270000"/>
            <a:ext cx="665463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B2A33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CIVICPULSE · GOVERNED 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975" y="1569045"/>
            <a:ext cx="6045049" cy="290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84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CivicPulse turns public frustration into governed action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15975" y="4686498"/>
            <a:ext cx="604504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 clear operating model for hearing, prioritizing, resolving, and learning from citizen voice.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Government leaders see complaints, but not always the system behind them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E3F4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01" y="2220317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Fragmented intake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2780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Grievances arrive across channels, departments, and formats.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0926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F3FB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940" y="2220317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Hidden operating logic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605718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Ownership, urgency, and recurring patterns are hard to see in one view.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3865" y="1766292"/>
            <a:ext cx="3488246" cy="4634508"/>
          </a:xfrm>
          <a:prstGeom prst="roundRect">
            <a:avLst>
              <a:gd name="adj" fmla="val 5570"/>
            </a:avLst>
          </a:prstGeom>
          <a:solidFill>
            <a:srgbClr val="FFE7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878" y="2220317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8657" y="3137892"/>
            <a:ext cx="287866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Public experience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398657" y="3640137"/>
            <a:ext cx="287866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Citizens experience the gaps as silence, repetition, and low trust.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5431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0703" y="457200"/>
            <a:ext cx="833099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FULL-CYCLE OPERATING MODEL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3860703" y="756245"/>
            <a:ext cx="777220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One full-cycle model connects every grievance to an outcome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063799" y="2268538"/>
            <a:ext cx="101597" cy="6334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3"/>
          <p:cNvSpPr/>
          <p:nvPr/>
        </p:nvSpPr>
        <p:spPr>
          <a:xfrm>
            <a:off x="4597285" y="2135188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Capture + verify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97285" y="2587923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Confirm the citizen issue and the facts needed to act.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63799" y="2901950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3022600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Classify + prioritize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285" y="3475335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Recognize service, severity, geography, and urgency.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063799" y="3789362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4597285" y="3910013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Route + own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97285" y="4362748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Assign the accountable department and next step.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063799" y="4676775"/>
            <a:ext cx="101597" cy="887413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2"/>
          <p:cNvSpPr/>
          <p:nvPr/>
        </p:nvSpPr>
        <p:spPr>
          <a:xfrm>
            <a:off x="4597285" y="4797425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Act + communicate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97285" y="5250160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Track progress and keep the citizen informed.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063799" y="5564188"/>
            <a:ext cx="101597" cy="254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5"/>
          <p:cNvSpPr/>
          <p:nvPr/>
        </p:nvSpPr>
        <p:spPr>
          <a:xfrm>
            <a:off x="4597285" y="5684838"/>
            <a:ext cx="70356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Close + learn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97285" y="6137573"/>
            <a:ext cx="70356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Resolve the issue and use the outcome to improve services.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860703" y="2014538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66776" y="2141538"/>
            <a:ext cx="70542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860703" y="2901950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40483" y="3028950"/>
            <a:ext cx="7580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860703" y="3789362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40483" y="3916363"/>
            <a:ext cx="7580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860703" y="4676775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42269" y="4803775"/>
            <a:ext cx="75444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3860703" y="5564188"/>
            <a:ext cx="507987" cy="508000"/>
          </a:xfrm>
          <a:prstGeom prst="ellipse">
            <a:avLst/>
          </a:prstGeom>
          <a:solidFill>
            <a:srgbClr val="F56342"/>
          </a:solidFill>
          <a:ln w="50799">
            <a:solidFill>
              <a:srgbClr val="F563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39094" y="5691188"/>
            <a:ext cx="76079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Every complaint gets a clear owner, priority, and next step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79413" y="2007493"/>
            <a:ext cx="3748391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480667"/>
            <a:ext cx="369134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Unified intake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7987" y="2982913"/>
            <a:ext cx="369134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Digital, assisted, and field channels enter one operating 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70754" y="2007493"/>
            <a:ext cx="3748391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199329" y="2480667"/>
            <a:ext cx="369134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Rules-based routing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199329" y="2982913"/>
            <a:ext cx="3691341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Geography, service, severity, and department determine ownership.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2096" y="2007493"/>
            <a:ext cx="3748490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890670" y="2480667"/>
            <a:ext cx="36914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Escalation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90670" y="2982913"/>
            <a:ext cx="369144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Deadlines, vulnerability, or risk demand attention.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987" y="5327650"/>
            <a:ext cx="11074123" cy="1073150"/>
          </a:xfrm>
          <a:prstGeom prst="roundRect">
            <a:avLst>
              <a:gd name="adj" fmla="val 18106"/>
            </a:avLst>
          </a:prstGeom>
          <a:solidFill>
            <a:srgbClr val="C6E9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780" y="5530850"/>
            <a:ext cx="104645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In plain words: no complaint should disappear between the channel where it starts and the team responsible for resolving it.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061516" y="1744067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9771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752857" y="1744067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112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444297" y="1744067"/>
            <a:ext cx="584185" cy="584200"/>
          </a:xfrm>
          <a:prstGeom prst="ellipse">
            <a:avLst/>
          </a:prstGeom>
          <a:solidFill>
            <a:srgbClr val="F56342"/>
          </a:solidFill>
          <a:ln w="50799">
            <a:solidFill>
              <a:srgbClr val="F563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552" y="1896467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70543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BEYOND VOLUME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807045"/>
            <a:ext cx="6248244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Sentiment intelligence reveals what volume alone misses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6" y="2735759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Read the signal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4155579"/>
            <a:ext cx="19811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Detect frustration, urgency, recurring themes, and emerging hotspots.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353" y="2735759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131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See the pattern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2743131" y="4155579"/>
            <a:ext cx="19811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Separate isolated incidents from systemic service problems.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899" y="2735759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76678" y="3653334"/>
            <a:ext cx="198115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Act earlier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4876678" y="4155579"/>
            <a:ext cx="1981150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Give leaders an early-warning layer before dissatisfaction compounds.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Leaders get one operating view from intake to resolution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4307772" cy="3367683"/>
          </a:xfrm>
          <a:prstGeom prst="roundRect">
            <a:avLst>
              <a:gd name="adj" fmla="val 5770"/>
            </a:avLst>
          </a:prstGeom>
          <a:solidFill>
            <a:srgbClr val="E3F4F1"/>
          </a:solidFill>
          <a:ln/>
        </p:spPr>
      </p:sp>
      <p:sp>
        <p:nvSpPr>
          <p:cNvPr id="5" name="Text 3"/>
          <p:cNvSpPr/>
          <p:nvPr/>
        </p:nvSpPr>
        <p:spPr>
          <a:xfrm>
            <a:off x="812780" y="2045692"/>
            <a:ext cx="400298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LEADERSHIP 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0" y="2344738"/>
            <a:ext cx="3698187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0" dirty="0">
                <a:solidFill>
                  <a:srgbClr val="0F766E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One view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12780" y="3236218"/>
            <a:ext cx="369818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From the first intake signal to the final resolution and follow-up.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20452" y="1766292"/>
            <a:ext cx="300218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Monitor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120452" y="2268538"/>
            <a:ext cx="300218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Backlog, ageing, response times, resolution rates, and escalations.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79826" y="1766292"/>
            <a:ext cx="300228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Drill down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579826" y="2268538"/>
            <a:ext cx="30022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Move from district or department trends to the underlying citizen issue.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20452" y="3678734"/>
            <a:ext cx="646165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Focus 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20452" y="4180979"/>
            <a:ext cx="646165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Use evidence to target reviews, resources, and corrective action.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987" y="5327650"/>
            <a:ext cx="11074123" cy="1073150"/>
          </a:xfrm>
          <a:prstGeom prst="roundRect">
            <a:avLst>
              <a:gd name="adj" fmla="val 18106"/>
            </a:avLst>
          </a:prstGeom>
          <a:solidFill>
            <a:srgbClr val="C6E93D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80" y="5530850"/>
            <a:ext cx="104645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The dashboard is not the outcome. It is the shared evidence leaders use to decide what happens next.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341707" y="1766292"/>
            <a:ext cx="19050" cy="1683841"/>
          </a:xfrm>
          <a:prstGeom prst="rect">
            <a:avLst/>
          </a:prstGeom>
          <a:solidFill>
            <a:srgbClr val="C6DBD7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452" y="3440609"/>
            <a:ext cx="6461658" cy="19050"/>
          </a:xfrm>
          <a:prstGeom prst="rect">
            <a:avLst/>
          </a:prstGeom>
          <a:solidFill>
            <a:srgbClr val="C6DBD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Accountability becomes visible without becoming punitive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E3F4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227429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3137892"/>
            <a:ext cx="2878562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Make ownership explicit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12780" y="3986808"/>
            <a:ext cx="2878562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Set clear service commitments and make responsibility visible to the teams doing the work.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0926" y="1766292"/>
            <a:ext cx="3488146" cy="4634508"/>
          </a:xfrm>
          <a:prstGeom prst="roundRect">
            <a:avLst>
              <a:gd name="adj" fmla="val 5570"/>
            </a:avLst>
          </a:prstGeom>
          <a:solidFill>
            <a:srgbClr val="F3FB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13" y="227429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3137892"/>
            <a:ext cx="287856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Keep citizens informed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605718" y="3640137"/>
            <a:ext cx="287856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Provide status updates and a credible path to follow-up when work takes time.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93865" y="1766292"/>
            <a:ext cx="3488246" cy="4634508"/>
          </a:xfrm>
          <a:prstGeom prst="roundRect">
            <a:avLst>
              <a:gd name="adj" fmla="val 5570"/>
            </a:avLst>
          </a:prstGeom>
          <a:solidFill>
            <a:srgbClr val="FFE7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852" y="227429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8657" y="3137892"/>
            <a:ext cx="287866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Publish what helps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398657" y="3640137"/>
            <a:ext cx="287866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Share the right measures to build confidence and support continuous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596727"/>
            <a:ext cx="74166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BBF6F2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THE NEXT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1895773"/>
            <a:ext cx="6908627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CivicPulse closes the loop between citizen voice and better government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737381" y="1859459"/>
            <a:ext cx="29463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0" dirty="0">
                <a:solidFill>
                  <a:srgbClr val="EBF7BA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737381" y="2750939"/>
            <a:ext cx="294632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moves from listening to governed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87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Focus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7987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Start with a focused service or geography.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1886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Baseline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1886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Establish baseline measures and escalation rules.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35784" y="4313436"/>
            <a:ext cx="304792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Scale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35784" y="4815681"/>
            <a:ext cx="3047924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Scale the model as departments demonstrate faster, fairer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CivicPulse —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An AI-assisted civic grievance management and decision-support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45336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38528"/>
            <a:ext cx="3054096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Citizen complaints are distributed across channels. Departments can lose visibility into ownership, urgency, recurring issues, and resolution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545336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938528"/>
            <a:ext cx="3054096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CivicPulse creates one governed workflow: capture → verify → classify → prioritize → route → resolve → communicate → learn.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545336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938528"/>
            <a:ext cx="3054096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Leaders get operational visibility, teams get clear ownership, and citizens get status visibility and a consistent follow-up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080"/>
                </a:solidFill>
                <a:latin typeface="Aptos"/>
              </a:rPr>
              <a:t>Core principle: turn citizen voice into measurable, accountable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Major functional modules of the CivicPulse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Citizen Complaint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Submit issues through web/mobile/assisted channels with category, location, description and optional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AI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Classify complaint type, department, severity and urgency using NLP/ML-assisted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Priority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1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Combine severity, urgency, location, vulnerability and service rules to determine priority.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Smart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Automatically assign the responsible department/team and create a trackable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Sentiment &amp; Trend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Detect frustration signals, recurring themes and emerging service hotspots.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Case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Track status, owner, SLA/deadline, escalations and citizen communications.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How the major components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9875520" cy="658368"/>
          </a:xfrm>
          <a:prstGeom prst="roundRect">
            <a:avLst/>
          </a:prstGeom>
          <a:solidFill>
            <a:srgbClr val="F2F7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30759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1. User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075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Citizen portal • Officer portal • Leadership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30552"/>
            <a:ext cx="9875520" cy="658368"/>
          </a:xfrm>
          <a:prstGeom prst="roundRect">
            <a:avLst/>
          </a:prstGeom>
          <a:solidFill>
            <a:srgbClr val="F2F7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037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2. 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0370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Complaint API • Authentication • Case management •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26664"/>
            <a:ext cx="9875520" cy="658368"/>
          </a:xfrm>
          <a:prstGeom prst="roundRect">
            <a:avLst/>
          </a:prstGeom>
          <a:solidFill>
            <a:srgbClr val="F2F7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998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3. AI / 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9981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NLP classification • Sentiment analysis • Priority rules • Trend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22776"/>
            <a:ext cx="9875520" cy="658368"/>
          </a:xfrm>
          <a:prstGeom prst="roundRect">
            <a:avLst/>
          </a:prstGeom>
          <a:solidFill>
            <a:srgbClr val="F2F7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95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4.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959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Users • Complaints • Departments • Locations • Status history •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18888"/>
            <a:ext cx="9875520" cy="658368"/>
          </a:xfrm>
          <a:prstGeom prst="roundRect">
            <a:avLst/>
          </a:prstGeom>
          <a:solidFill>
            <a:srgbClr val="F2F7F8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892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5. Governance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892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D37"/>
                </a:solidFill>
                <a:latin typeface="Aptos"/>
              </a:rPr>
              <a:t>Role-based access • Audit logs • Escalation rules • Data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AI / ML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Where artificial intelligence can support the CivicPulse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624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NLP / Text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556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Extract complaint category, department and key entities from citizen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768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Sentiment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00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Estimate sentiment signals such as positive, neutral or negative to identify frustration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1912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Priority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844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Use historical cases and defined governance rules to assist priority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105655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Topic / Trend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988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Group similar complaints and surface repeated service issues or geographic hotspots.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020055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4132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Officers can review, correct or override AI outputs; corrections can become feedback for improvement.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ptos"/>
              </a:rPr>
              <a:t>AI should assist decisions; final accountability remains with authorized human officials.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End-to-End Complaint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A case moves through a controlled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57400"/>
            <a:ext cx="1143000" cy="822960"/>
          </a:xfrm>
          <a:prstGeom prst="roundRect">
            <a:avLst/>
          </a:prstGeom>
          <a:solidFill>
            <a:srgbClr val="0080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1368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256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Prioritize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4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1032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44184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1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50808" y="2057400"/>
            <a:ext cx="1143000" cy="822960"/>
          </a:xfrm>
          <a:prstGeom prst="roundRect">
            <a:avLst/>
          </a:prstGeom>
          <a:solidFill>
            <a:srgbClr val="1227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Notify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2677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0696" y="2057400"/>
            <a:ext cx="1143000" cy="822960"/>
          </a:xfrm>
          <a:prstGeom prst="roundRect">
            <a:avLst/>
          </a:prstGeom>
          <a:solidFill>
            <a:srgbClr val="0080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2267712"/>
            <a:ext cx="996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6576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785615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Citizen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178808"/>
            <a:ext cx="2688336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Receives case ID, status updates and a clear follow-up path.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36576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3785615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Department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4178808"/>
            <a:ext cx="2688336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Gets owner, priority, SLA/deadline and next action.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6576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785615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Leadership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4178808"/>
            <a:ext cx="2688336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Sees backlog, ageing, trends, escalations and resolution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User 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Role-based access keeps the workflow accountable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624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Citizen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556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Create complaint, attach evidence, view status, receive updates, provide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768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Case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700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Verify information, update status, communicate, document action and close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191256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Department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5844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Monitor team workload, escalations, ageing cases and service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77639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105655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988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Manage users, departments, categories, rules, permissions and audit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920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020055"/>
            <a:ext cx="10186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5413248"/>
            <a:ext cx="10186416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Review cross-department trends, hotspots, KPIs and improvement priorities.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Suggested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A practical stack for implementing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6245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556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HTML5 • CSS3 • JavaScript / 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6245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75564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Python Flask/FastAPI or Java 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59689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900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MySQL /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6888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59689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9900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Python • scikit-learn • NLP libraries • optional transformer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83133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22452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Pandas • NumPy • Matplotlib/Plotly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83133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22452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Docker • Cloud VM / AWS / Azure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516636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506577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45896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JWT/session authentication • RBAC • audit logs • HTTPS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Main entities required to manage the case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user_id, name, role, department_id, contact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Complaints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complaint_id, citizen_id, category, description, location, priority,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department_id, name, service_area, escalation_contact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Case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history_id, complaint_id, owner, action, timestamp, remarks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notification_id, complaint_id, recipient, message, sent_at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feedback_id, complaint_id, rating, comment, submitted_at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Performance Metrics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Measures that connect the dashboard to operational improvement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First Response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Time from complaint submission to first official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Resolution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Time from case creation to verified closure.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Resolution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1" y="184708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Share of cases resolved within the selected reporting period.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SLA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Share of cases completed within the defined service commitment.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Backlog &amp; Ageing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Open cases grouped by age to identify accumulation.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47472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360273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Escalation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3995928"/>
            <a:ext cx="300837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Share of cases requiring escalation or higher-level intervention.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Build incrementally and validate the workflow at each stage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16736"/>
            <a:ext cx="10003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Phase 1 —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09928"/>
            <a:ext cx="10003536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Citizen complaint form, database, authentication and basic case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10003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Phase 2 —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42616"/>
            <a:ext cx="10003536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Departments, routing rules, priority logic, status updates and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54096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82112"/>
            <a:ext cx="10003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Phase 3 —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575303"/>
            <a:ext cx="10003536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Text classification, sentiment analysis, topic detection and assisted prioritization.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86784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114800"/>
            <a:ext cx="10003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Phase 4 —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07992"/>
            <a:ext cx="10003536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Leadership KPIs, trend charts, geography/department drill-down and escalations.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9472"/>
            <a:ext cx="10332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047488"/>
            <a:ext cx="10003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Phase 5 — Pilot &amp;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440680"/>
            <a:ext cx="10003536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Pilot one service/geography, measure baseline, improve rules, then expand.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Security, Privacy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Controls that should be built into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47088"/>
            <a:ext cx="3008376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Role-based permissions.
Citizens should see only their own cases. Officers should access authorized departmental cases. Leadership views should follow governance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Privacy &amp;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1847088"/>
            <a:ext cx="3008376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Minimize collected personal data, protect sensitive fields, encrypt data in transit, maintain audit logs, and define retention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25880"/>
            <a:ext cx="33375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080"/>
                </a:solidFill>
                <a:latin typeface="Aptos"/>
              </a:rPr>
              <a:t>Responsible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008376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D37"/>
                </a:solidFill>
                <a:latin typeface="Aptos"/>
              </a:rPr>
              <a:t>AI outputs should be reviewable. Monitor errors and bias. Automated suggestions should not replace accountable human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Expected Project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Outcomes the prototype is designed to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Centralized visibility across complaint channels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Clear ownership and next actions for each case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Faster identification of urgent or recurring issues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Improved communication with citizens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Evidence-based departmental reviews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Data-driven service improvement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Traceable case history and accountability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Scalable architecture for additional departments or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8080"/>
                </a:solidFill>
                <a:latin typeface="Aptos"/>
              </a:rPr>
              <a:t>Project success should be measured using defined baseline metrics rather than assumptions.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273F"/>
                </a:solidFill>
                <a:latin typeface="Aptos"/>
              </a:rPr>
              <a:t>Project 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F6973"/>
                </a:solidFill>
                <a:latin typeface="Aptos"/>
              </a:rPr>
              <a:t>A simple sequence for presenting the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1. Citizen submits a complaint with category, location and description.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2. System stores the complaint and generates a case identifier.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3. AI/rules classify the issue and suggest priority and department.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4. Officer receives the case and updates progress.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5. Citizen views status and receives a notification.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6. Dashboard updates backlog, ageing and resolution metrics.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• 7. Leadership reviews recurring themes and decides follow-up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2273F"/>
                </a:solidFill>
                <a:latin typeface="Aptos"/>
              </a:rPr>
              <a:t>CivicPulse: Listen → Understand → Assign → Act → Communicate →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2026-09-30T08:58:23Z</dcterms:created>
  <dcterms:modified xsi:type="dcterms:W3CDTF">2026-09-30T08:58:23Z</dcterms:modified>
</cp:coreProperties>
</file>